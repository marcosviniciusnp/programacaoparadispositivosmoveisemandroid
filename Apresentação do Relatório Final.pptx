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93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1" r:id="rId20"/>
    <p:sldId id="310" r:id="rId2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19" autoAdjust="0"/>
  </p:normalViewPr>
  <p:slideViewPr>
    <p:cSldViewPr snapToGrid="0">
      <p:cViewPr varScale="1">
        <p:scale>
          <a:sx n="93" d="100"/>
          <a:sy n="93" d="100"/>
        </p:scale>
        <p:origin x="10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53E43-ABDB-4D23-8A70-6A652B9F6AAD}" type="datetimeFigureOut">
              <a:rPr lang="pt-BR" smtClean="0"/>
              <a:t>18/11/2025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76C5A-0A7C-4F1B-AEAF-1599CF386B7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3859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99039-8224-41C9-89DE-8F8D06F7BCE0}" type="datetimeFigureOut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93E67-77F7-43B7-A012-7BB3197004D3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6688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893E67-77F7-43B7-A012-7BB3197004D3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9570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 useBgFill="1">
        <p:nvSpPr>
          <p:cNvPr id="10" name="Retâ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Retâ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sp>
        <p:nvSpPr>
          <p:cNvPr id="20" name="Espaço Reservado para Dat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856E124D-C361-4379-AC42-5377F2CFC7E4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21" name="Espaço Reservado para Rodapé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22" name="Espaço reservado para o número do slide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71344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F167B7-58CF-46EA-B7A7-A11B70C09469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80400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 useBgFill="1">
        <p:nvSpPr>
          <p:cNvPr id="23" name="Retâ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tâ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tâ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to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9FE986D8-DC49-4ECF-AD37-C03416996AE0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5796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54EBC0-A1A1-48D6-8617-6021C1F9EBF3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1998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551E80-80CF-4FBD-9F35-2CC935DA3155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3768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D9A5C4B-374D-409C-843C-B36ECC0159BE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71967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0D94F1-992C-4BBF-A5CF-F8F4085418E0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97824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29D00057-07BD-4117-A3C3-18831FA1E210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pt-BR" noProof="0" dirty="0"/>
          </a:p>
        </p:txBody>
      </p:sp>
      <p:sp>
        <p:nvSpPr>
          <p:cNvPr id="11" name="Espaço Reservado para o Número do Slide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6886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DE8F5B8F-9F36-4560-966A-7EBCD28B775E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429130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11D807-29E3-49A7-9BB6-47D1EBF10F5F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030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09C025-892F-4005-808C-55A063AF541D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99999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tângu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7" name="Retâ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2CCAC87-1EFD-4204-A542-7B822B73560F}" type="datetime1">
              <a:rPr lang="pt-BR" noProof="0" smtClean="0"/>
              <a:t>18/11/2025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13215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D9F73848-91FE-4D29-B0DC-BFC408416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89" name="Retângulo 8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pt-BR"/>
          </a:p>
        </p:txBody>
      </p:sp>
      <p:sp>
        <p:nvSpPr>
          <p:cNvPr id="91" name="Retângulo 9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1668545"/>
            <a:ext cx="4775075" cy="2347274"/>
          </a:xfrm>
        </p:spPr>
        <p:txBody>
          <a:bodyPr rtlCol="0">
            <a:noAutofit/>
          </a:bodyPr>
          <a:lstStyle/>
          <a:p>
            <a:r>
              <a:rPr lang="pt-BR" sz="2800" b="1" dirty="0"/>
              <a:t>Programação para Dispositivos Móveis em Android – WM TRADE</a:t>
            </a:r>
            <a:endParaRPr lang="pt-BR" sz="2800" b="1" dirty="0">
              <a:solidFill>
                <a:schemeClr val="tx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318235"/>
            <a:ext cx="4775075" cy="1453896"/>
          </a:xfrm>
        </p:spPr>
        <p:txBody>
          <a:bodyPr rtlCol="0">
            <a:normAutofit lnSpcReduction="10000"/>
          </a:bodyPr>
          <a:lstStyle/>
          <a:p>
            <a:pPr>
              <a:spcAft>
                <a:spcPts val="600"/>
              </a:spcAft>
            </a:pPr>
            <a:endParaRPr lang="pt-BR" sz="1050" b="1" dirty="0"/>
          </a:p>
          <a:p>
            <a:pPr>
              <a:spcAft>
                <a:spcPts val="600"/>
              </a:spcAft>
            </a:pPr>
            <a:r>
              <a:rPr lang="pt-BR" sz="1050" b="1" dirty="0"/>
              <a:t>RAFAEL RANGEL FERRETTI -</a:t>
            </a:r>
            <a:r>
              <a:rPr lang="pt-BR" sz="1050" dirty="0"/>
              <a:t> </a:t>
            </a:r>
            <a:r>
              <a:rPr lang="pt-BR" sz="1050" b="1" dirty="0"/>
              <a:t>HUDSON CRUZ SIQUEIRA -</a:t>
            </a:r>
            <a:r>
              <a:rPr lang="pt-BR" sz="1050" dirty="0"/>
              <a:t> </a:t>
            </a:r>
            <a:r>
              <a:rPr lang="pt-BR" sz="1050" b="1" dirty="0"/>
              <a:t>MARCOS VINICIUS NASCIMENTO PINTO -</a:t>
            </a:r>
            <a:r>
              <a:rPr lang="pt-BR" sz="1050" dirty="0"/>
              <a:t> </a:t>
            </a:r>
            <a:r>
              <a:rPr lang="pt-BR" sz="1050" b="1" dirty="0"/>
              <a:t>LUÍS ARTHUR BELLI FERNANDES</a:t>
            </a:r>
          </a:p>
          <a:p>
            <a:endParaRPr lang="pt-BR" sz="1050" b="1" dirty="0">
              <a:solidFill>
                <a:schemeClr val="tx1"/>
              </a:solidFill>
            </a:endParaRPr>
          </a:p>
          <a:p>
            <a:r>
              <a:rPr lang="pt-BR" sz="1050" b="1" dirty="0"/>
              <a:t>INSTITUIÇÃO: ESTÁCIO</a:t>
            </a:r>
          </a:p>
          <a:p>
            <a:r>
              <a:rPr lang="pt-BR" sz="1050" b="1" dirty="0"/>
              <a:t>2025</a:t>
            </a:r>
            <a:r>
              <a:rPr lang="pt-BR" sz="1050" dirty="0"/>
              <a:t> </a:t>
            </a:r>
            <a:r>
              <a:rPr lang="pt-BR" sz="1050" b="1" dirty="0"/>
              <a:t>JUIZ DE FORA - MINAS GERAIS</a:t>
            </a:r>
          </a:p>
          <a:p>
            <a:endParaRPr lang="pt-BR" sz="1200" dirty="0"/>
          </a:p>
          <a:p>
            <a:pPr>
              <a:spcAft>
                <a:spcPts val="6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681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626E96-B0ED-E7AF-8A4B-60F3E81DE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DESCRIÇÃO DO PROJETO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C2F669C-F206-F9FD-E732-01B62D1910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2550605"/>
            <a:ext cx="10696575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projeto tem como objetivo desenvolver um aplicativo móvel centralizado para otimizar as vendas e a gestão da WM Trade.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Utilizando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Native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 equipe desenvolveu uma solução capaz de centralizar o catálogo de produtos, gerenciar clientes e automatizar orçamentos na palma da mão do representante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6203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200D4-8C69-2F36-86BA-717694A3D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RISCO DE NÃO AGIR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4FE2AC-82AC-647C-D78C-A720E8F48B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0050" y="2473661"/>
            <a:ext cx="1072515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ausência de uma solução móvel centralizada compromete a agilidade do vendedor externo.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 um sistema integrado, a conciliação entre o atendimento em redes sociais e a gestão administrativa gera sobrecarga, resultando em perda de vendas por demora na resposta, erros em orçamentos manuais e desorganização do cadastro de clientes.</a:t>
            </a:r>
          </a:p>
        </p:txBody>
      </p:sp>
    </p:spTree>
    <p:extLst>
      <p:ext uri="{BB962C8B-B14F-4D97-AF65-F5344CB8AC3E}">
        <p14:creationId xmlns:p14="http://schemas.microsoft.com/office/powerpoint/2010/main" val="514631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C0A38-604A-9FA9-3B1D-A679B0AF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ESCOPO DO PROJETO (INFORMAÇÕES DA EMPRESA)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F5135E-E12B-0F68-FF0F-490D293507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4338" y="2258568"/>
            <a:ext cx="1077570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Nome da Empresa: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WM Trade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Setor de atuação: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Vendas (Varejo e Atacado)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Produtos/Serviços: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Móveis e Cosméticos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Tecnologias utilizadas: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Gestão via App Mobile,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Atendimento via Redes Sociais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5721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EEA61-D093-9DE5-7D1E-1BBC67A0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TECNOLOGIAS UTILIZADAS (FERRAMENTAS)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50D7A9-0D6D-53BC-8CC8-EEA8D5A4A6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9113" y="2904898"/>
            <a:ext cx="509524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ATLASSIAN (Gestão/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Kanban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pt-BR" altLang="pt-BR" sz="2800" dirty="0">
                <a:latin typeface="Arial" panose="020B0604020202020204" pitchFamily="34" charset="0"/>
              </a:rPr>
              <a:t>POWERPOINT (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r>
              <a:rPr lang="pt-BR" sz="2800" dirty="0"/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Discord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/Meet (Reuniões)</a:t>
            </a:r>
          </a:p>
        </p:txBody>
      </p:sp>
    </p:spTree>
    <p:extLst>
      <p:ext uri="{BB962C8B-B14F-4D97-AF65-F5344CB8AC3E}">
        <p14:creationId xmlns:p14="http://schemas.microsoft.com/office/powerpoint/2010/main" val="1171302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DD008-5990-6E32-E770-F0103B2F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TECNOLOGIAS UTILIZADAS (LINGUAGEM)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3CD04D-A972-261F-F812-9E182F632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87" y="2103120"/>
            <a:ext cx="10672713" cy="3849624"/>
          </a:xfrm>
        </p:spPr>
        <p:txBody>
          <a:bodyPr>
            <a:normAutofit/>
          </a:bodyPr>
          <a:lstStyle/>
          <a:p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Linguagem principal utilizada para o desenvolvimento da lógica da aplicação e regras de negócio.</a:t>
            </a:r>
          </a:p>
          <a:p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Native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Framework utilizado para criar a interface nativa do aplicativo (Front-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) para Android.</a:t>
            </a:r>
          </a:p>
        </p:txBody>
      </p:sp>
    </p:spTree>
    <p:extLst>
      <p:ext uri="{BB962C8B-B14F-4D97-AF65-F5344CB8AC3E}">
        <p14:creationId xmlns:p14="http://schemas.microsoft.com/office/powerpoint/2010/main" val="334756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2068E-21BB-32A0-234D-23B6AEBB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TECNOLOGIAS UTILIZADAS (LIBS E DADOS)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87F9FF-377E-6D58-1CC3-98A115DBA3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438" y="2043124"/>
            <a:ext cx="1033276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gestão segura de login 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acesso do usuário.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Firestore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Banco de dados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NoSQL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 nuvem para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armazenamento e sincronização em tempo real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 produtos e clientes.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Navigation</a:t>
            </a: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gerenciamento das rotas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 fluxo de telas do aplicativo.</a:t>
            </a:r>
          </a:p>
        </p:txBody>
      </p:sp>
    </p:spTree>
    <p:extLst>
      <p:ext uri="{BB962C8B-B14F-4D97-AF65-F5344CB8AC3E}">
        <p14:creationId xmlns:p14="http://schemas.microsoft.com/office/powerpoint/2010/main" val="1481341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B9EEB-62FE-2EBD-2C5F-AD8318DF8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CUSTO/BENEFÍCIO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FF8214-C7E1-93D5-BA25-D6CBE0A90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2487" y="2904548"/>
            <a:ext cx="1187893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 Total do Projeto: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R$ 0,00 (Desenvolvimento Acadêmico)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Manutenção: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Baixa/Nula (Uso do plano gratuito do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 Benefício: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Excelente (Automatização de processos manuais)</a:t>
            </a:r>
          </a:p>
        </p:txBody>
      </p:sp>
    </p:spTree>
    <p:extLst>
      <p:ext uri="{BB962C8B-B14F-4D97-AF65-F5344CB8AC3E}">
        <p14:creationId xmlns:p14="http://schemas.microsoft.com/office/powerpoint/2010/main" val="158481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D2693-AF9A-0EB4-155B-55C3D2398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RESULTADO (TÉCNICOS)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252293-2AD7-6C0F-F88E-211C48B3DC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4813" y="1827681"/>
            <a:ext cx="10448694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Desenvolvimento de aplicativo móvel robusto com autenticação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pt-BR" altLang="pt-BR" sz="2800" dirty="0">
                <a:latin typeface="Arial" panose="020B0604020202020204" pitchFamily="34" charset="0"/>
              </a:rPr>
              <a:t>Segura.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Implementação de catálogo digital com consulta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ágil de preços e estoque.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Sistema de CRUD (Criação, Leitura, Atualização, Exclusão)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 gestão de Clientes e Produtos.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Sincronização de dados em nuvem via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Firestore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973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7BFB0-5A94-8775-A710-32EFA9053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RESULTADO (ORGANIZACIONAIS)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267EDE-D83D-4ADA-5C17-34F1112CC2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9365" y="2042774"/>
            <a:ext cx="1078583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Centralização das informações de vendas em um único dispositivo.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Eliminação do retrabalho manual na criação de orçamentos.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Maior agilidade na resposta ao cliente durante atendimentos externos.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Organização profissional da carteira de clientes.</a:t>
            </a:r>
          </a:p>
        </p:txBody>
      </p:sp>
    </p:spTree>
    <p:extLst>
      <p:ext uri="{BB962C8B-B14F-4D97-AF65-F5344CB8AC3E}">
        <p14:creationId xmlns:p14="http://schemas.microsoft.com/office/powerpoint/2010/main" val="57222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4274A-4393-25DD-458B-3533E767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RESULTADO (SOCIAIS E ESTRATÉGICOS)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17D30A-2583-F76C-7927-988904746E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3388" y="2904898"/>
            <a:ext cx="1133355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Fortalecimento do empreendedorismo individual (WM Trade).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tecnologia de ponta para profissionalizar pequenos negócios.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Mobilidade total: o escritório está onde o vendedor estiver.</a:t>
            </a:r>
          </a:p>
        </p:txBody>
      </p:sp>
    </p:spTree>
    <p:extLst>
      <p:ext uri="{BB962C8B-B14F-4D97-AF65-F5344CB8AC3E}">
        <p14:creationId xmlns:p14="http://schemas.microsoft.com/office/powerpoint/2010/main" val="1009522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9213E-F983-38C3-FBF9-49F278154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LIÇÕES APRENDIDAS (1/3)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490970-5C10-4C33-4114-C2F184C926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000" y="2042774"/>
            <a:ext cx="107442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grupo compreendeu como a mobilidade (Mobile </a:t>
            </a:r>
            <a:r>
              <a:rPr kumimoji="0" lang="pt-BR" altLang="pt-BR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</a:t>
            </a:r>
            <a:r>
              <a:rPr kumimoji="0" lang="pt-BR" altLang="pt-BR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é essencial para a eficiência de vendedores autônomos.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Ferramentas como </a:t>
            </a:r>
            <a:r>
              <a:rPr kumimoji="0" lang="pt-BR" altLang="pt-BR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pt-BR" altLang="pt-BR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t-BR" altLang="pt-BR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Native</a:t>
            </a:r>
            <a:r>
              <a:rPr kumimoji="0" lang="pt-BR" altLang="pt-BR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</a:t>
            </a:r>
            <a:r>
              <a:rPr kumimoji="0" lang="pt-BR" altLang="pt-BR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Firebase</a:t>
            </a:r>
            <a:r>
              <a:rPr kumimoji="0" lang="pt-BR" altLang="pt-BR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provaram ser ideais para criar soluções rápidas e escaláveis sem alto custo de infraestrutura.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gestão de tarefas via </a:t>
            </a:r>
            <a:r>
              <a:rPr kumimoji="0" lang="pt-BR" altLang="pt-BR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Atlassian</a:t>
            </a:r>
            <a:r>
              <a:rPr kumimoji="0" lang="pt-BR" altLang="pt-BR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foi crucial para manter o cronograma de desenvolvimento alinhado.</a:t>
            </a:r>
          </a:p>
        </p:txBody>
      </p:sp>
    </p:spTree>
    <p:extLst>
      <p:ext uri="{BB962C8B-B14F-4D97-AF65-F5344CB8AC3E}">
        <p14:creationId xmlns:p14="http://schemas.microsoft.com/office/powerpoint/2010/main" val="511229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DA410-971E-820E-29EA-E8DD6E574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LIÇÕES APRENDIDAS (2/3)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476908-DA34-8F43-5F1A-D807ED5A5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99" y="2103120"/>
            <a:ext cx="10738701" cy="3849624"/>
          </a:xfrm>
        </p:spPr>
        <p:txBody>
          <a:bodyPr/>
          <a:lstStyle/>
          <a:p>
            <a:pPr lvl="1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Entendemos que a centralização de dados elimina o "caos" operacional de quem trabalha sozinho.</a:t>
            </a:r>
          </a:p>
          <a:p>
            <a:pPr lvl="1"/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 vivência reforçou que a tecnologia pode ser um equalizador, permitindo que uma empresa de uma pessoa só tenha ferramentas de gestão poderosas, comparáveis às de grandes equipes.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810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A5D4A-37AF-D8FB-E5B9-90F78B697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JUSTIFICATIVA E LIÇÕES FINAIS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DA8739-3D0F-7499-8E50-FF92EB1AC3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7675" y="1950441"/>
            <a:ext cx="1067752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Justificativa/Urgência: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necessidade de organizar a rotina do vendedor era crítica para evitar perda de oportunidades de venda.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Benefícios: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Otimização do tempo, precisão nas informações de preço e profissionalismo no atendimento.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ROI Tecnológico: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Adoção de uma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moderna (JS/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React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que garante longevidade e facilidade de manutenção ao projeto.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Riscos de não agir: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Continuidade da desorganização e estagnação do crescimento das vendas.</a:t>
            </a:r>
          </a:p>
        </p:txBody>
      </p:sp>
    </p:spTree>
    <p:extLst>
      <p:ext uri="{BB962C8B-B14F-4D97-AF65-F5344CB8AC3E}">
        <p14:creationId xmlns:p14="http://schemas.microsoft.com/office/powerpoint/2010/main" val="1044968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BC50BE-AFDA-E909-08B0-6E4146ED7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REPOSITÓRIO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93511B-5E48-32EC-B860-35F4D8FBC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pt-BR" b="1" dirty="0"/>
              <a:t>GitHub:</a:t>
            </a:r>
            <a:r>
              <a:rPr lang="pt-BR" dirty="0"/>
              <a:t> [https://github.com/</a:t>
            </a:r>
            <a:r>
              <a:rPr lang="pt-BR" dirty="0" err="1"/>
              <a:t>MarcosViniciusNP</a:t>
            </a:r>
            <a:r>
              <a:rPr lang="pt-BR" dirty="0"/>
              <a:t>/</a:t>
            </a:r>
            <a:r>
              <a:rPr lang="pt-BR" dirty="0" err="1"/>
              <a:t>ProgramacaoParaDispositivosMoveisEmAndroid</a:t>
            </a:r>
            <a:r>
              <a:rPr lang="pt-BR" dirty="0"/>
              <a:t>]</a:t>
            </a:r>
          </a:p>
          <a:p>
            <a:pPr algn="ctr"/>
            <a:endParaRPr lang="pt-BR" dirty="0"/>
          </a:p>
          <a:p>
            <a:pPr algn="ctr"/>
            <a:r>
              <a:rPr lang="pt-BR" b="1" dirty="0"/>
              <a:t>YouTube:</a:t>
            </a:r>
            <a:r>
              <a:rPr lang="pt-BR" dirty="0"/>
              <a:t> [https://youtube.com/shorts/BL9wNG5hSCA]</a:t>
            </a:r>
          </a:p>
        </p:txBody>
      </p:sp>
    </p:spTree>
    <p:extLst>
      <p:ext uri="{BB962C8B-B14F-4D97-AF65-F5344CB8AC3E}">
        <p14:creationId xmlns:p14="http://schemas.microsoft.com/office/powerpoint/2010/main" val="4038694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0C594-C1FB-0D94-0BEF-2D4046B2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CARTA DE APRESENTAÇÃO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37372C75-9D40-024F-A59F-E9F21BA28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6343" y="2103120"/>
            <a:ext cx="4305086" cy="396068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DF15D38-5CBB-5DE3-03F4-9AE0B9CD8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103120"/>
            <a:ext cx="4851115" cy="396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10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BF0EC-49E7-4167-4958-BB476FE3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7200" dirty="0"/>
              <a:t>OBRIGADO!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7A62B4-DFF1-8351-5FA8-71F594E38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11437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59_TF56219246.potx" id="{29970EC9-15C1-46E1-A641-C49977573691}" vid="{A89DA22E-8400-4359-8FBF-E73FA969BF5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75FBC4-9D33-46BE-911D-419763BA9AF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6DBD101-FC0A-4B21-82B0-57CAA7AEEC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94F055B-D391-44D3-A87A-BCD07BD5A3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{FEE82B7A-F58C-4151-AC02-C856F9346617}TF993b3720-55e5-4d3e-ae7c-1ec77a73f5a486bb145f_win32-265451371517</Template>
  <TotalTime>29</TotalTime>
  <Words>705</Words>
  <Application>Microsoft Office PowerPoint</Application>
  <PresentationFormat>Widescreen</PresentationFormat>
  <Paragraphs>99</Paragraphs>
  <Slides>17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Arial</vt:lpstr>
      <vt:lpstr>Avenir Next LT Pro</vt:lpstr>
      <vt:lpstr>Avenir Next LT Pro Light</vt:lpstr>
      <vt:lpstr>Calibri</vt:lpstr>
      <vt:lpstr>Garamond</vt:lpstr>
      <vt:lpstr>SavonVTI</vt:lpstr>
      <vt:lpstr>Programação para Dispositivos Móveis em Android – WM TRADE</vt:lpstr>
      <vt:lpstr>DESCRIÇÃO DO PROJETO</vt:lpstr>
      <vt:lpstr>RISCO DE NÃO AGIR</vt:lpstr>
      <vt:lpstr>ESCOPO DO PROJETO (INFORMAÇÕES DA EMPRESA)</vt:lpstr>
      <vt:lpstr>TECNOLOGIAS UTILIZADAS (FERRAMENTAS)</vt:lpstr>
      <vt:lpstr>TECNOLOGIAS UTILIZADAS (LINGUAGEM)</vt:lpstr>
      <vt:lpstr>TECNOLOGIAS UTILIZADAS (LIBS E DADOS)</vt:lpstr>
      <vt:lpstr>CUSTO/BENEFÍCIO</vt:lpstr>
      <vt:lpstr>RESULTADO (TÉCNICOS)</vt:lpstr>
      <vt:lpstr>RESULTADO (ORGANIZACIONAIS)</vt:lpstr>
      <vt:lpstr>RESULTADO (SOCIAIS E ESTRATÉGICOS)</vt:lpstr>
      <vt:lpstr>LIÇÕES APRENDIDAS (1/3)</vt:lpstr>
      <vt:lpstr>LIÇÕES APRENDIDAS (2/3)</vt:lpstr>
      <vt:lpstr>JUSTIFICATIVA E LIÇÕES FINAIS</vt:lpstr>
      <vt:lpstr>REPOSITÓRIO</vt:lpstr>
      <vt:lpstr>CARTA DE APRESENTAÇÃO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Luís Arthur Belli</dc:creator>
  <cp:lastModifiedBy>Luís Arthur Belli</cp:lastModifiedBy>
  <cp:revision>1</cp:revision>
  <dcterms:created xsi:type="dcterms:W3CDTF">2025-11-18T22:54:36Z</dcterms:created>
  <dcterms:modified xsi:type="dcterms:W3CDTF">2025-11-18T23:24:02Z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